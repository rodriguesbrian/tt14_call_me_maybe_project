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4C6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1A6B8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-457200"/>
            <a:ext cx="2011680" cy="2011680"/>
          </a:xfrm>
          <a:prstGeom prst="ellipse">
            <a:avLst/>
          </a:prstGeom>
          <a:solidFill>
            <a:srgbClr val="1C7A9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· DATA ANALYTICS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Me Maybe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identification of underperforming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in a virtual telephony platform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1371600" cy="36576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29184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1A6B8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2918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57400" y="329184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1A6B8A"/>
          </a:solidFill>
          <a:ln/>
        </p:spPr>
      </p:sp>
      <p:sp>
        <p:nvSpPr>
          <p:cNvPr id="12" name="Text 10"/>
          <p:cNvSpPr/>
          <p:nvPr/>
        </p:nvSpPr>
        <p:spPr>
          <a:xfrm>
            <a:off x="2057400" y="32918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329184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1A6B8A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32918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Statsmodels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74920" y="329184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1A6B8A"/>
          </a:solidFill>
          <a:ln/>
        </p:spPr>
      </p:sp>
      <p:sp>
        <p:nvSpPr>
          <p:cNvPr id="16" name="Text 14"/>
          <p:cNvSpPr/>
          <p:nvPr/>
        </p:nvSpPr>
        <p:spPr>
          <a:xfrm>
            <a:off x="5074920" y="32918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44805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Brian Rodrigues · github.com/rodriguesbrian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0D4C6B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365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I T U A T I O 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CallMeMaybe provides virtual telephony services to 290 client companies.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has a pool of operators handling inbound and outbound calls — but no framework existed to distinguish natural performance variation from genuine inefficiency.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49040" y="45720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0E4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0" y="621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📞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34840" y="5943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statistical baseline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34840" y="96012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Supervisors relied on raw KPIs without significance testing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749040" y="192024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0E4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31920" y="2084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434840" y="2057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ignored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34840" y="24231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rankings penalised operators in smaller or newer teams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49040" y="338328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0E4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0" y="3547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434840" y="35204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Individual vs structural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34840" y="388620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tell if a problem was one operator or the whole company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A S 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built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2344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statistical KPI framework that compares each operator exclusively against their own team — preserving client context and separating individual failures from structural patterns.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60320" cy="2834640"/>
          </a:xfrm>
          <a:prstGeom prst="roundRect">
            <a:avLst>
              <a:gd name="adj" fmla="val 3571"/>
            </a:avLst>
          </a:prstGeom>
          <a:solidFill>
            <a:srgbClr val="0D4C6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03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24231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Missed Rate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1089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calls lost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operator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886200"/>
            <a:ext cx="2194560" cy="548640"/>
          </a:xfrm>
          <a:prstGeom prst="roundRect">
            <a:avLst>
              <a:gd name="adj" fmla="val 8333"/>
            </a:avLst>
          </a:prstGeom>
          <a:solidFill>
            <a:srgbClr val="0D1B2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886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Two-Proportion Z-Test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65960"/>
            <a:ext cx="2560320" cy="2834640"/>
          </a:xfrm>
          <a:prstGeom prst="roundRect">
            <a:avLst>
              <a:gd name="adj" fmla="val 3571"/>
            </a:avLst>
          </a:prstGeom>
          <a:solidFill>
            <a:srgbClr val="1A6B8A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2103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4231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Waiting Time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83280" y="31089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 a caller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waits per call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566160" y="3886200"/>
            <a:ext cx="2194560" cy="548640"/>
          </a:xfrm>
          <a:prstGeom prst="roundRect">
            <a:avLst>
              <a:gd name="adj" fmla="val 8333"/>
            </a:avLst>
          </a:prstGeom>
          <a:solidFill>
            <a:srgbClr val="0D1B2A"/>
          </a:solidFill>
          <a:ln/>
        </p:spPr>
      </p:sp>
      <p:sp>
        <p:nvSpPr>
          <p:cNvPr id="18" name="Text 16"/>
          <p:cNvSpPr/>
          <p:nvPr/>
        </p:nvSpPr>
        <p:spPr>
          <a:xfrm>
            <a:off x="3566160" y="3886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17920" y="1965960"/>
            <a:ext cx="2560320" cy="2834640"/>
          </a:xfrm>
          <a:prstGeom prst="roundRect">
            <a:avLst>
              <a:gd name="adj" fmla="val 3571"/>
            </a:avLst>
          </a:prstGeom>
          <a:solidFill>
            <a:srgbClr val="1C8FAD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2103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17920" y="24231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Outbound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Productivity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17920" y="31089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outbound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volume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3886200"/>
            <a:ext cx="2194560" cy="548640"/>
          </a:xfrm>
          <a:prstGeom prst="roundRect">
            <a:avLst>
              <a:gd name="adj" fmla="val 8333"/>
            </a:avLst>
          </a:prstGeom>
          <a:solidFill>
            <a:srgbClr val="0D1B2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3886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0D4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 T I O N   ·   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Methodology: Fair Comparison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 Profile Filter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operator is classified before evaluation based on their dominant call direction: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3566160" cy="594360"/>
          </a:xfrm>
          <a:prstGeom prst="roundRect">
            <a:avLst>
              <a:gd name="adj" fmla="val 9231"/>
            </a:avLst>
          </a:prstGeom>
          <a:solidFill>
            <a:srgbClr val="0D4C6B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4688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66% Inbound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72491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operators → KPIs 1 &amp; 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3154680"/>
            <a:ext cx="3566160" cy="594360"/>
          </a:xfrm>
          <a:prstGeom prst="roundRect">
            <a:avLst>
              <a:gd name="adj" fmla="val 9231"/>
            </a:avLst>
          </a:prstGeom>
          <a:solidFill>
            <a:srgbClr val="1A6B8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20040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66% Outbound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345643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662 operators → KPI 3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3566160" cy="594360"/>
          </a:xfrm>
          <a:prstGeom prst="roundRect">
            <a:avLst>
              <a:gd name="adj" fmla="val 9231"/>
            </a:avLst>
          </a:prstGeom>
          <a:solidFill>
            <a:srgbClr val="7A9BAE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93192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profile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18795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 operators → excluded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63440" y="1325880"/>
            <a:ext cx="402336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Minimum Filter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thresholds defined from data distribution — not arbitrary cutoffs: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46320" y="2423160"/>
            <a:ext cx="3566160" cy="621792"/>
          </a:xfrm>
          <a:prstGeom prst="roundRect">
            <a:avLst>
              <a:gd name="adj" fmla="val 8824"/>
            </a:avLst>
          </a:prstGeom>
          <a:solidFill>
            <a:srgbClr val="F0F7FA"/>
          </a:solidFill>
          <a:ln w="12700">
            <a:solidFill>
              <a:srgbClr val="D0E4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2468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operator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272491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— no reference group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46320" y="3172968"/>
            <a:ext cx="3566160" cy="621792"/>
          </a:xfrm>
          <a:prstGeom prst="roundRect">
            <a:avLst>
              <a:gd name="adj" fmla="val 8824"/>
            </a:avLst>
          </a:prstGeom>
          <a:solidFill>
            <a:srgbClr val="F0F7FA"/>
          </a:solidFill>
          <a:ln w="12700">
            <a:solidFill>
              <a:srgbClr val="D0E4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321868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operators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0" y="347472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ratio ≥ 66% required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46320" y="3922776"/>
            <a:ext cx="3566160" cy="621792"/>
          </a:xfrm>
          <a:prstGeom prst="roundRect">
            <a:avLst>
              <a:gd name="adj" fmla="val 8824"/>
            </a:avLst>
          </a:prstGeom>
          <a:solidFill>
            <a:srgbClr val="F0F7FA"/>
          </a:solidFill>
          <a:ln w="12700">
            <a:solidFill>
              <a:srgbClr val="D0E4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0" y="396849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operators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0" y="422452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reach P25 of team volume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46320" y="4672584"/>
            <a:ext cx="3566160" cy="713232"/>
          </a:xfrm>
          <a:prstGeom prst="roundRect">
            <a:avLst>
              <a:gd name="adj" fmla="val 7692"/>
            </a:avLst>
          </a:prstGeom>
          <a:solidFill>
            <a:srgbClr val="0D4C6B"/>
          </a:solidFill>
          <a:ln w="12700">
            <a:solidFill>
              <a:srgbClr val="D0E4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0" y="471830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floor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497433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calls inbound · 28 calls/wk outbound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(median of distribution per EDA)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 T I O N   ·   2 / 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Criteria — Data-Driven Thresholds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1115568"/>
          </a:xfrm>
          <a:prstGeom prst="roundRect">
            <a:avLst>
              <a:gd name="adj" fmla="val 6557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435608"/>
            <a:ext cx="502920" cy="502920"/>
          </a:xfrm>
          <a:prstGeom prst="roundRect">
            <a:avLst>
              <a:gd name="adj" fmla="val 9091"/>
            </a:avLst>
          </a:prstGeom>
          <a:solidFill>
            <a:srgbClr val="0D4C6B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435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41732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Missed Rate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1728216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Missed inbound calls / Total inbound calls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 &lt; 0.05 — Two-proportion Z-Test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Operator above P85 of team distribution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0" y="2039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Reference: ~2% globally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560320"/>
            <a:ext cx="8229600" cy="1115568"/>
          </a:xfrm>
          <a:prstGeom prst="roundRect">
            <a:avLst>
              <a:gd name="adj" fmla="val 6557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2670048"/>
            <a:ext cx="502920" cy="502920"/>
          </a:xfrm>
          <a:prstGeom prst="roundRect">
            <a:avLst>
              <a:gd name="adj" fmla="val 9091"/>
            </a:avLst>
          </a:prstGeom>
          <a:solidFill>
            <a:srgbClr val="1A6B8A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4440" y="2651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Waiting Time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34440" y="2962656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(total_call_duration − call_duration) / calls_count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46320" y="2670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 &lt; 0.05 — Mann-Whitney U (greater)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2971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Operator median above P85 of team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32735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Reference: 27s globally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794760"/>
            <a:ext cx="8229600" cy="1115568"/>
          </a:xfrm>
          <a:prstGeom prst="roundRect">
            <a:avLst>
              <a:gd name="adj" fmla="val 6557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904488"/>
            <a:ext cx="502920" cy="502920"/>
          </a:xfrm>
          <a:prstGeom prst="roundRect">
            <a:avLst>
              <a:gd name="adj" fmla="val 9091"/>
            </a:avLst>
          </a:prstGeom>
          <a:solidFill>
            <a:srgbClr val="1C8FAD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3904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34440" y="388620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Outbound Productivity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34440" y="4197096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Median weekly outbound calls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39044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 &lt; 0.05 — Mann-Whitney U (less)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4206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Operator median below P15 of team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4507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Reference: 3 calls/week globally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4C6B"/>
          </a:solidFill>
          <a:ln/>
        </p:spPr>
      </p:sp>
      <p:sp>
        <p:nvSpPr>
          <p:cNvPr id="3" name="Shape 1"/>
          <p:cNvSpPr/>
          <p:nvPr/>
        </p:nvSpPr>
        <p:spPr>
          <a:xfrm>
            <a:off x="-731520" y="3200400"/>
            <a:ext cx="2743200" cy="2743200"/>
          </a:xfrm>
          <a:prstGeom prst="ellipse">
            <a:avLst/>
          </a:prstGeom>
          <a:solidFill>
            <a:srgbClr val="1A6B8A"/>
          </a:solidFill>
          <a:ln/>
        </p:spPr>
      </p:sp>
      <p:sp>
        <p:nvSpPr>
          <p:cNvPr id="4" name="Shape 2"/>
          <p:cNvSpPr/>
          <p:nvPr/>
        </p:nvSpPr>
        <p:spPr>
          <a:xfrm>
            <a:off x="7498080" y="-731520"/>
            <a:ext cx="2286000" cy="2286000"/>
          </a:xfrm>
          <a:prstGeom prst="ellipse">
            <a:avLst/>
          </a:prstGeom>
          <a:solidFill>
            <a:srgbClr val="1C7A9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E S U L T S   ·   1 / 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8640" y="5486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920240" cy="2103120"/>
          </a:xfrm>
          <a:prstGeom prst="roundRect">
            <a:avLst>
              <a:gd name="adj" fmla="val 4762"/>
            </a:avLst>
          </a:prstGeom>
          <a:solidFill>
            <a:srgbClr val="1A6B8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5544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313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57200" y="2514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evaluated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90779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28.7% of 1,092 total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606040" y="1417320"/>
            <a:ext cx="1920240" cy="2103120"/>
          </a:xfrm>
          <a:prstGeom prst="roundRect">
            <a:avLst>
              <a:gd name="adj" fmla="val 4762"/>
            </a:avLst>
          </a:prstGeom>
          <a:solidFill>
            <a:srgbClr val="1A6B8A"/>
          </a:solidFill>
          <a:ln/>
        </p:spPr>
      </p:sp>
      <p:sp>
        <p:nvSpPr>
          <p:cNvPr id="12" name="Text 10"/>
          <p:cNvSpPr/>
          <p:nvPr/>
        </p:nvSpPr>
        <p:spPr>
          <a:xfrm>
            <a:off x="2606040" y="15544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2606040" y="2514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flagged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06040" y="290779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 of evaluated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1417320"/>
            <a:ext cx="1920240" cy="2103120"/>
          </a:xfrm>
          <a:prstGeom prst="roundRect">
            <a:avLst>
              <a:gd name="adj" fmla="val 4762"/>
            </a:avLst>
          </a:prstGeom>
          <a:solidFill>
            <a:srgbClr val="1A6B8A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5544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200" dirty="0"/>
          </a:p>
        </p:txBody>
      </p:sp>
      <p:sp>
        <p:nvSpPr>
          <p:cNvPr id="17" name="Text 15"/>
          <p:cNvSpPr/>
          <p:nvPr/>
        </p:nvSpPr>
        <p:spPr>
          <a:xfrm>
            <a:off x="4754880" y="2514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assessed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290779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20.7% of 290 total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903720" y="1417320"/>
            <a:ext cx="1920240" cy="2103120"/>
          </a:xfrm>
          <a:prstGeom prst="roundRect">
            <a:avLst>
              <a:gd name="adj" fmla="val 4762"/>
            </a:avLst>
          </a:prstGeom>
          <a:solidFill>
            <a:srgbClr val="1A6B8A"/>
          </a:solidFill>
          <a:ln/>
        </p:spPr>
      </p:sp>
      <p:sp>
        <p:nvSpPr>
          <p:cNvPr id="20" name="Text 18"/>
          <p:cNvSpPr/>
          <p:nvPr/>
        </p:nvSpPr>
        <p:spPr>
          <a:xfrm>
            <a:off x="6903720" y="15544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6903720" y="2514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companies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03720" y="290779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4 flagged operators each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749040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0A3A55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382219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Rate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" y="40965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flagged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4360" y="431596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55 evaluated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364992" y="3749040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0A3A55"/>
          </a:solidFill>
          <a:ln/>
        </p:spPr>
      </p:sp>
      <p:sp>
        <p:nvSpPr>
          <p:cNvPr id="28" name="Text 26"/>
          <p:cNvSpPr/>
          <p:nvPr/>
        </p:nvSpPr>
        <p:spPr>
          <a:xfrm>
            <a:off x="3502152" y="382219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Time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502152" y="40965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flagged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502152" y="431596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65 evaluated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272784" y="3749040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0A3A55"/>
          </a:solidFill>
          <a:ln/>
        </p:spPr>
      </p:sp>
      <p:sp>
        <p:nvSpPr>
          <p:cNvPr id="32" name="Text 30"/>
          <p:cNvSpPr/>
          <p:nvPr/>
        </p:nvSpPr>
        <p:spPr>
          <a:xfrm>
            <a:off x="6409944" y="382219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Productivity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9944" y="40965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flagged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9944" y="431596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248 evaluated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0D4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E S U L T S   ·   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Pattern: 4 Critical Companies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0D4C6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44475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167626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39572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flagged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67004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2 × 1 + KPI 3 × 4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606040" y="132588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0D4C6B"/>
          </a:solidFill>
          <a:ln/>
        </p:spPr>
      </p:sp>
      <p:sp>
        <p:nvSpPr>
          <p:cNvPr id="11" name="Text 9"/>
          <p:cNvSpPr/>
          <p:nvPr/>
        </p:nvSpPr>
        <p:spPr>
          <a:xfrm>
            <a:off x="2606040" y="144475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168062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06040" y="178308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2606040" y="239572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flagged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606040" y="267004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3 × 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754880" y="132588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0D4C6B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44475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168187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178308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754880" y="239572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flagged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54880" y="267004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2 × 1 + KPI 3 × 3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903720" y="132588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0D4C6B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144475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168361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03720" y="178308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903720" y="239572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flagged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903720" y="267004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3 × 3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329184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0D4C6B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40156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🔍  Complementary Finding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" y="3712464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critical companies share Plan A and contract start dates between Sep–Oct 2019 — less than 2 months of operation at the end of the dataset period. Pattern is consistent with an onboarding learning curve hypothesis.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5800" y="4407408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[Inference: observational correlation — not confirmed causality]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4C6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2286000"/>
            <a:ext cx="4572000" cy="4572000"/>
          </a:xfrm>
          <a:prstGeom prst="ellipse">
            <a:avLst/>
          </a:prstGeom>
          <a:solidFill>
            <a:srgbClr val="1A6B8A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2926080"/>
            <a:ext cx="3200400" cy="3200400"/>
          </a:xfrm>
          <a:prstGeom prst="ellipse">
            <a:avLst/>
          </a:prstGeom>
          <a:solidFill>
            <a:srgbClr val="1C7A9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O N C L U S I O 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shows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956816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evidence beats descriptive KPIs — significance testing prevents false positives from noise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6700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⚖️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2706624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requires context — operators must be compared only against peers in the same team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41985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🏢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3456432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problems ≠ structural problems — distribution of flagged operators reveals systemic issues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416966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🔗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05840" y="42062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operators failed more than one KPI — distinct inefficiency profiles require targeted interventions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&amp; Resources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234440"/>
            <a:ext cx="320040" cy="320040"/>
          </a:xfrm>
          <a:prstGeom prst="roundRect">
            <a:avLst>
              <a:gd name="adj" fmla="val 11429"/>
            </a:avLst>
          </a:prstGeom>
          <a:solidFill>
            <a:srgbClr val="0D4C6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207008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· NumPy · Feature engineering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34440"/>
            <a:ext cx="320040" cy="320040"/>
          </a:xfrm>
          <a:prstGeom prst="roundRect">
            <a:avLst>
              <a:gd name="adj" fmla="val 11429"/>
            </a:avLst>
          </a:prstGeom>
          <a:solidFill>
            <a:srgbClr val="0D4C6B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1207008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SciPy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29000" y="16916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 · Shapiro-Wilk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234440"/>
            <a:ext cx="320040" cy="320040"/>
          </a:xfrm>
          <a:prstGeom prst="roundRect">
            <a:avLst>
              <a:gd name="adj" fmla="val 11429"/>
            </a:avLst>
          </a:prstGeom>
          <a:solidFill>
            <a:srgbClr val="0D4C6B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1207008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Statsmodels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63640" y="16916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Two-Proportion Z-Test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2606040"/>
            <a:ext cx="320040" cy="320040"/>
          </a:xfrm>
          <a:prstGeom prst="roundRect">
            <a:avLst>
              <a:gd name="adj" fmla="val 11429"/>
            </a:avLst>
          </a:prstGeom>
          <a:solidFill>
            <a:srgbClr val="0D4C6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2578608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Matplotlib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Seaborn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30632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visualisation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24688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29000" y="2606040"/>
            <a:ext cx="320040" cy="320040"/>
          </a:xfrm>
          <a:prstGeom prst="roundRect">
            <a:avLst>
              <a:gd name="adj" fmla="val 11429"/>
            </a:avLst>
          </a:prstGeom>
          <a:solidFill>
            <a:srgbClr val="0D4C6B"/>
          </a:solidFill>
          <a:ln/>
        </p:spPr>
      </p:sp>
      <p:sp>
        <p:nvSpPr>
          <p:cNvPr id="23" name="Text 21"/>
          <p:cNvSpPr/>
          <p:nvPr/>
        </p:nvSpPr>
        <p:spPr>
          <a:xfrm>
            <a:off x="3840480" y="2578608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Tableau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29000" y="30632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24688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63640" y="2606040"/>
            <a:ext cx="320040" cy="320040"/>
          </a:xfrm>
          <a:prstGeom prst="roundRect">
            <a:avLst>
              <a:gd name="adj" fmla="val 11429"/>
            </a:avLst>
          </a:prstGeom>
          <a:solidFill>
            <a:srgbClr val="0D4C6B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2578608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C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· GitHub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30632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· Portfolio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0D4C6B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1148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GitHub: github.com/rodriguesbrian/tt14_call_me_maybe_project     📊  Dashboard: Tableau Public — brian.rodrigues5391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2026-07-23T08:15:40Z</dcterms:created>
  <dcterms:modified xsi:type="dcterms:W3CDTF">2026-07-23T08:15:40Z</dcterms:modified>
</cp:coreProperties>
</file>