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20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C7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DATA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Me Maybe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identification of underperforming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a virtual telephony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3716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32918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5740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32918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74920" y="32918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Rodrigues · github.com/rodriguesbrian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 T U A T I O 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CallMeMaybe provides virtual telephony services to 290 client companies.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has a pool of operators handling inbound and outbound calls — but no framework existed to distinguish natural performance variation from genuine inefficiency.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4572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0" y="621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594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statistical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9601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relied on raw KPIs without significance testing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9202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057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ignored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4231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rankings penalised operators in smaller or newer teams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3832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vs structural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3886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if a problem was one operator or the whole company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 S 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statistical KPI framework that compares each operator exclusively against their own team — preserving client context and separating individual failures from structural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calls lost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operator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Time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a caller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per 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8862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1C8F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outbound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8862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 u="sng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T I O N   ·   1 /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Fair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Profile Filter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operator is classified before evaluation based on their dominant call direction: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66% Inbound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operators → KPIs 1 &amp;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66% Outbound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 operators → KPI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7A9B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187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operators → excluded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Minimum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thresholds defined from data distribution — not arbitrary cutoffs:</a:t>
            </a:r>
            <a:endParaRPr lang="en-US" sz="1100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11603FA-9F6D-9B91-DF5D-28F69F82022B}"/>
              </a:ext>
            </a:extLst>
          </p:cNvPr>
          <p:cNvGrpSpPr/>
          <p:nvPr/>
        </p:nvGrpSpPr>
        <p:grpSpPr>
          <a:xfrm>
            <a:off x="4937760" y="2468881"/>
            <a:ext cx="3383280" cy="2011680"/>
            <a:chOff x="4846320" y="2423160"/>
            <a:chExt cx="3566160" cy="2962656"/>
          </a:xfrm>
        </p:grpSpPr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4218F9DD-D794-D854-9D94-30805F2508E2}"/>
                </a:ext>
              </a:extLst>
            </p:cNvPr>
            <p:cNvGrpSpPr/>
            <p:nvPr/>
          </p:nvGrpSpPr>
          <p:grpSpPr>
            <a:xfrm>
              <a:off x="4846320" y="2423160"/>
              <a:ext cx="3566160" cy="621792"/>
              <a:chOff x="4846320" y="2423160"/>
              <a:chExt cx="3566160" cy="62179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4846320" y="2423160"/>
                <a:ext cx="3566160" cy="621792"/>
              </a:xfrm>
              <a:prstGeom prst="roundRect">
                <a:avLst>
                  <a:gd name="adj" fmla="val 8824"/>
                </a:avLst>
              </a:prstGeom>
              <a:solidFill>
                <a:srgbClr val="F0F7FA"/>
              </a:solidFill>
              <a:ln w="12700">
                <a:solidFill>
                  <a:srgbClr val="D0E4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029200" y="2468880"/>
                <a:ext cx="32004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D4C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 operator</a:t>
                </a:r>
                <a:endParaRPr lang="en-US" sz="105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5029200" y="2724912"/>
                <a:ext cx="320040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Excluded — no reference group</a:t>
                </a:r>
                <a:endParaRPr lang="en-US" sz="800" dirty="0"/>
              </a:p>
            </p:txBody>
          </p:sp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439D1022-F656-48D5-801F-771B45D31A56}"/>
                </a:ext>
              </a:extLst>
            </p:cNvPr>
            <p:cNvGrpSpPr/>
            <p:nvPr/>
          </p:nvGrpSpPr>
          <p:grpSpPr>
            <a:xfrm>
              <a:off x="4846320" y="3172968"/>
              <a:ext cx="3566160" cy="621792"/>
              <a:chOff x="4846320" y="3172968"/>
              <a:chExt cx="3566160" cy="621792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4846320" y="3172968"/>
                <a:ext cx="3566160" cy="621792"/>
              </a:xfrm>
              <a:prstGeom prst="roundRect">
                <a:avLst>
                  <a:gd name="adj" fmla="val 8824"/>
                </a:avLst>
              </a:prstGeom>
              <a:solidFill>
                <a:srgbClr val="F0F7FA"/>
              </a:solidFill>
              <a:ln w="12700">
                <a:solidFill>
                  <a:srgbClr val="D0E4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5029200" y="3218688"/>
                <a:ext cx="32004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D4C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 operators</a:t>
                </a:r>
                <a:endParaRPr lang="en-US" sz="105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029200" y="3474720"/>
                <a:ext cx="320040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Volume ratio ≥ 66% required</a:t>
                </a:r>
                <a:endParaRPr lang="en-US" sz="800" dirty="0"/>
              </a:p>
            </p:txBody>
          </p:sp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A37C23A-BE0D-2693-F980-9CB77DEDAA9B}"/>
                </a:ext>
              </a:extLst>
            </p:cNvPr>
            <p:cNvGrpSpPr/>
            <p:nvPr/>
          </p:nvGrpSpPr>
          <p:grpSpPr>
            <a:xfrm>
              <a:off x="4846320" y="3922776"/>
              <a:ext cx="3566160" cy="621792"/>
              <a:chOff x="4846320" y="3922776"/>
              <a:chExt cx="3566160" cy="621792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846320" y="3922776"/>
                <a:ext cx="3566160" cy="621792"/>
              </a:xfrm>
              <a:prstGeom prst="roundRect">
                <a:avLst>
                  <a:gd name="adj" fmla="val 8824"/>
                </a:avLst>
              </a:prstGeom>
              <a:solidFill>
                <a:srgbClr val="F0F7FA"/>
              </a:solidFill>
              <a:ln w="12700">
                <a:solidFill>
                  <a:srgbClr val="D0E4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029200" y="3968496"/>
                <a:ext cx="32004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0D4C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≥ 3 operators</a:t>
                </a:r>
                <a:endParaRPr lang="en-US" sz="105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5029200" y="4224528"/>
                <a:ext cx="320040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Must reach P25 of team volume</a:t>
                </a:r>
                <a:endParaRPr lang="en-US" sz="800" dirty="0"/>
              </a:p>
            </p:txBody>
          </p:sp>
        </p:grp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02BE13D8-8507-D11A-D3F8-DDDE3DFDC64D}"/>
                </a:ext>
              </a:extLst>
            </p:cNvPr>
            <p:cNvGrpSpPr/>
            <p:nvPr/>
          </p:nvGrpSpPr>
          <p:grpSpPr>
            <a:xfrm>
              <a:off x="4846320" y="4672584"/>
              <a:ext cx="3566160" cy="713232"/>
              <a:chOff x="4846320" y="4672584"/>
              <a:chExt cx="3566160" cy="713232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4846320" y="4672584"/>
                <a:ext cx="3566160" cy="713232"/>
              </a:xfrm>
              <a:prstGeom prst="roundRect">
                <a:avLst>
                  <a:gd name="adj" fmla="val 7692"/>
                </a:avLst>
              </a:prstGeom>
              <a:solidFill>
                <a:srgbClr val="0D4C6B"/>
              </a:solidFill>
              <a:ln w="12700">
                <a:solidFill>
                  <a:srgbClr val="D0E4E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5029200" y="4718304"/>
                <a:ext cx="32004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F4A2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Global floor</a:t>
                </a:r>
                <a:endParaRPr lang="en-US" sz="105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5029200" y="4974336"/>
                <a:ext cx="320040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F0F4F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17 calls inbound · 28 calls/wk outbound</a:t>
                </a:r>
                <a:endParaRPr lang="en-US" sz="800" dirty="0"/>
              </a:p>
              <a:p>
                <a:pPr marL="0" indent="0">
                  <a:buNone/>
                </a:pPr>
                <a:r>
                  <a:rPr lang="en-US" sz="800" dirty="0">
                    <a:solidFill>
                      <a:srgbClr val="F0F4F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(median of distribution per EDA)</a:t>
                </a:r>
                <a:endParaRPr lang="en-US" sz="900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T I O N   ·   2 /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Criteria — Data-Driven Thresholds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43560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72821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Missed inbound calls / Total inbound calls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&lt; 0.05 — Two-proportion Z-Test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above P85 of team distribution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Reference: ~2% globally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67004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651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96265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(total_call_duration − call_duration) / calls_count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&lt; 0.05 — Mann-Whitney U (greater)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median above P85 of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Reference: 27s globally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39044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C8F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886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Productivity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19709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Median weekly outbound calls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&lt; 0.05 — Mann-Whitney U (less)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median below P15 of team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Reference: 3 calls/week globally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C7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U L T S   ·   1 /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evaluated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of 1,092 total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evaluated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assessed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20.7% of 290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41732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90372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companies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9077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flagged operators each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0A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096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flagged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3159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55 evaluated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64992" y="374904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0A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02152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02152" y="4096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flagged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02152" y="43159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65 evaluated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72784" y="374904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0A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9944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Productivity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9944" y="4096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flagged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9944" y="43159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248 evaluated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D4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U L T S   ·   2 /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Pattern: 4 Critical Companies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167626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× 1 + KPI 3 × 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168062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606040" y="2395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× 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168187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54880" y="2395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× 1 + KPI 3 × 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13258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168361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903720" y="2395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flagged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× 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4015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 Complementary Finding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712464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critical companies share Plan A and contract start dates between Sep–Oct 2019 — less than 2 months of operation at the end of the dataset period. Pattern is consistent with an onboarding learning curve hypothesis.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4074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[Inference: observational correlation — not confirmed causality]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C7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C L U S I O 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shows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5681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evidence beats descriptive KPIs — significance testing prevents false positives from noise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70662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requires context — operators must be compared only against peers in the same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45643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problems ≠ structural problems — distribution of flagged operators reveals systemic issues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9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operators failed more than one KPI — distinct inefficiency profiles require targeted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Feature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· Shapiro-Wilk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1207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2606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578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visualisation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29000" y="2606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0" y="2578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468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0F7FA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0" y="2578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· GitHub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· Portfolio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D4C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github.com/rodriguesbrian/tt14_call_me_maybe_project </a:t>
            </a:r>
          </a:p>
          <a:p>
            <a:endParaRPr lang="en-US" sz="11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Tableau Public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https://public.tableau.com/app/profile/brianrodrigues./viz/TT14-CallMeMaybe/Dashboard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756</Words>
  <Application>Microsoft Office PowerPoint</Application>
  <PresentationFormat>Apresentação na tela (16:9)</PresentationFormat>
  <Paragraphs>165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Rodrigues</cp:lastModifiedBy>
  <cp:revision>2</cp:revision>
  <dcterms:created xsi:type="dcterms:W3CDTF">2026-07-23T08:15:40Z</dcterms:created>
  <dcterms:modified xsi:type="dcterms:W3CDTF">2026-08-24T13:29:42Z</dcterms:modified>
</cp:coreProperties>
</file>